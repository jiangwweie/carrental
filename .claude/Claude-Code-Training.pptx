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1" r:id="rId20"/>
    <p:sldId id="272" r:id="rId21"/>
    <p:sldId id="260" r:id="rId7"/>
    <p:sldId id="273" r:id="rId22"/>
    <p:sldId id="261" r:id="rId8"/>
    <p:sldId id="262" r:id="rId9"/>
    <p:sldId id="263" r:id="rId10"/>
    <p:sldId id="264" r:id="rId11"/>
    <p:sldId id="274" r:id="rId23"/>
    <p:sldId id="275" r:id="rId24"/>
    <p:sldId id="266" r:id="rId12"/>
    <p:sldId id="267" r:id="rId13"/>
    <p:sldId id="268" r:id="rId14"/>
    <p:sldId id="269" r:id="rId15"/>
    <p:sldId id="276" r:id="rId2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Agentic Coding：从第一性原理到实战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949E"/>
                </a:solidFill>
              </a:defRPr>
            </a:pPr>
            <a:r>
              <a:t>团队内部培训 · 70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0F6FC"/>
                </a:solidFill>
              </a:defRPr>
            </a:pPr>
            <a:r>
              <a:t>今日议程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工具科普与大模型选择（10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第一性原理：LLM 本质与上下文约束（10 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核心概念：MCP / Skill / 三层记忆（10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三大痛点与解决方案（15 分钟）⭐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复利工程 ＆ 刻意练习（10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B949E"/>
                </a:solidFill>
              </a:defRPr>
            </a:pPr>
            <a:r>
              <a:t>• 实战 Demo：待办事项 API（10 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AI 编程工具对比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5149"/>
                </a:solidFill>
              </a:defRPr>
            </a:pPr>
            <a:r>
              <a:t>传统工具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代码补全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完整工作流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单文件操作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多文件协作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无上下文管理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200K tokens + 自动压缩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无 MCP 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可扩展工具链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单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多 Agent 团队协作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大模型选择指南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决策树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需要深度推理（架构设计、复杂 Bug）？ → Opus 4.6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常规开发任务（编码、测试）？ → Sonnet 4.6 ⭐ 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快速响应（补全、格式化）？ → Haiku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29922"/>
                </a:solidFill>
              </a:defRPr>
            </a:pPr>
            <a:r>
              <a:t>⚠️ Sonnet 4.6 是性价比最优（你当前使用）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Fast mode = Opus 4.6 但速度更快（付费功能）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多 Agent 场景：Backend/Frontend 用 Sonnet，Reviewer 可用 Opus</a:t>
            </a:r>
          </a:p>
        </p:txBody>
      </p:sp>
      <p:sp>
        <p:nvSpPr>
          <p:cNvPr id="11" name="TextBox 3"/>
          <p:cNvSpPr txBox="1"/>
          <p:nvPr/>
        </p:nvSpPr>
        <p:spPr>
          <a:xfrm>
            <a:off x="457200" y="4401185"/>
            <a:ext cx="145605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rPr lang="zh-CN"/>
              <a:t>国内</a:t>
            </a:r>
            <a:r>
              <a:rPr lang="zh-CN"/>
              <a:t>大模型</a:t>
            </a:r>
            <a:endParaRPr lang="zh-CN"/>
          </a:p>
        </p:txBody>
      </p:sp>
      <p:sp>
        <p:nvSpPr>
          <p:cNvPr id="12" name="TextBox 4"/>
          <p:cNvSpPr txBox="1"/>
          <p:nvPr/>
        </p:nvSpPr>
        <p:spPr>
          <a:xfrm>
            <a:off x="767080" y="5006340"/>
            <a:ext cx="356933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0F6FC"/>
                </a:solidFill>
              </a:defRPr>
            </a:pPr>
            <a:r>
              <a:rPr lang="zh-CN"/>
              <a:t>智谱</a:t>
            </a:r>
            <a:r>
              <a:rPr lang="en-US" altLang="zh-CN"/>
              <a:t>: GLM5(</a:t>
            </a:r>
            <a:r>
              <a:rPr lang="zh-CN" altLang="en-US"/>
              <a:t>文本生成、深度思考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TextBox 4"/>
          <p:cNvSpPr txBox="1"/>
          <p:nvPr/>
        </p:nvSpPr>
        <p:spPr>
          <a:xfrm>
            <a:off x="767080" y="5623560"/>
            <a:ext cx="548322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0F6FC"/>
                </a:solidFill>
              </a:defRPr>
            </a:pPr>
            <a:r>
              <a:rPr lang="zh-CN" altLang="en-US"/>
              <a:t>月之暗面</a:t>
            </a:r>
            <a:r>
              <a:rPr lang="en-US" altLang="zh-CN"/>
              <a:t>: kimi-k2.5(</a:t>
            </a:r>
            <a:r>
              <a:rPr lang="zh-CN" altLang="en-US"/>
              <a:t>文本生成、深度思考、视觉理解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4" name="TextBox 4"/>
          <p:cNvSpPr txBox="1"/>
          <p:nvPr/>
        </p:nvSpPr>
        <p:spPr>
          <a:xfrm>
            <a:off x="772795" y="6275070"/>
            <a:ext cx="547751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F0F6FC"/>
                </a:solidFill>
              </a:defRPr>
            </a:pPr>
            <a:r>
              <a:rPr lang="zh-CN" altLang="en-US"/>
              <a:t>千问</a:t>
            </a:r>
            <a:r>
              <a:rPr lang="en-US" altLang="zh-CN"/>
              <a:t>: qwen3.6-plus(</a:t>
            </a:r>
            <a:r>
              <a:rPr lang="zh-CN" altLang="en-US"/>
              <a:t>文本生成、深度思考、视觉理解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MCP vs Skill：本质区别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5149"/>
                </a:solidFill>
              </a:defRPr>
            </a:pPr>
            <a:r>
              <a:t>MCP（工具箱）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Skill（工作手册）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给 AI 装上手和眼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教 AI 怎么做事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扩展能力边界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规范行为模式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~/.claude/mcp.json（全局）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.claude/skills/（项目级）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SQLite, FileSystem, 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planning-with-files, backend-dev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949E"/>
                </a:solidFill>
              </a:defRPr>
            </a:pPr>
            <a:r>
              <a:t>硬件能力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0F6FC"/>
                </a:solidFill>
              </a:defRPr>
            </a:pPr>
            <a:r>
              <a:t>软件能力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上下文传递：三层记忆系统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Layer 1: Memory MCP（永久记忆）⭐⭐⭐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架构决策、技术选型、踩坑记录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永久保留，上下文丢失后仍可恢复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Layer 2: findings.md（技术发现）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7 天归档，智能匹配标签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Layer 3: progress.md（会话日志）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3 天归档，避免无限增长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5149"/>
                </a:solidFill>
              </a:defRPr>
            </a:pPr>
            <a:r>
              <a:t>痛点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6FC"/>
                </a:solidFill>
              </a:defRPr>
            </a:pPr>
            <a:r>
              <a:t>上下文丢失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949E"/>
                </a:solidFill>
              </a:defRPr>
            </a:pPr>
            <a:r>
              <a:t>问题：AI 忘记之前的架构决策，200K 上下文限制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✅ 方案：三层记忆系统（docs 持久化 + Memory MCP）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🚫 红线：强制/kaigong + /shougong，违反=P0 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5149"/>
                </a:solidFill>
              </a:defRPr>
            </a:pPr>
            <a:r>
              <a:t>痛点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6FC"/>
                </a:solidFill>
              </a:defRPr>
            </a:pPr>
            <a:r>
              <a:t>代码幻觉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949E"/>
                </a:solidFill>
              </a:defRPr>
            </a:pPr>
            <a:r>
              <a:t>问题：AI 生成不存在的 API 调用，训练数据污染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✅ 方案：契约文件 + 类型定义（SSOT 唯一真理）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🚫 红线：禁止手动定义类型，必须从 OpenAPI Spec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5149"/>
                </a:solidFill>
              </a:defRPr>
            </a:pPr>
            <a:r>
              <a:t>痛点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0F6FC"/>
                </a:solidFill>
              </a:defRPr>
            </a:pPr>
            <a:r>
              <a:t>过度信任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949E"/>
                </a:solidFill>
              </a:defRPr>
            </a:pPr>
            <a:r>
              <a:t>问题：直接合并 AI 代码无审查，心理过度信任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✅ 方案：Code Review 强制流程（独立 Reviewer）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🚫 红线：禁止跳过 Reviewer，违反=P0 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Agent 团队协作规范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决策层（3 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Product Manager：需求收集、优先级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Architect：架构设计、契约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Project Manager：统一入口、协调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执行层（3 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Backend Dev：Python +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Frontend Dev：React + TS + Tailwind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支持层（3 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QA Tester：测试策略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Code Reviewer：独立审查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Diagnostic Analyst：根因分析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文件边界规则（避免冲突）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src/ → Backend ✅ 全权 | Frontend ❌ 禁止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web-front/ → Backend ❌ 禁止 | Frontend ✅ 全权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tests/ → QA ✅ 全权 | Backend ⚠️ 协助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docs/arch/ → Architect ✅ | PM ⚠️ 只读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29922"/>
                </a:solidFill>
              </a:defRPr>
            </a:pPr>
            <a:r>
              <a:t>⚠️ 违反边界 = P0 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冲突解决：停止修改 → 通知 PM → 重新分配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开工/收工检查清单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开工前（/kaigong）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理解需求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确认边界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检查依赖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环境准备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收工前（/shougong）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自验证通过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代码格式化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无 TODO 遗留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提交规范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6FC"/>
                </a:solidFill>
              </a:defRPr>
            </a:pPr>
            <a:r>
              <a:t>• ✅ 文档更新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8A6FF"/>
                </a:solidFill>
              </a:defRPr>
            </a:pPr>
            <a:r>
              <a:t>核心价值总结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传统开发 vs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传统开发：1 人单干 → 2 天完成待办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Claude Code：10 人虚拟团队 → 10 分钟交付 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29922"/>
                </a:solidFill>
              </a:defRPr>
            </a:pPr>
            <a:r>
              <a:t>⚠️ 不是替代程序员，而是扩展能力边界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从 1 人单干 → 10 人虚拟团队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从随机质量 → 强制规范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FB950"/>
                </a:solidFill>
              </a:defRPr>
            </a:pPr>
            <a:r>
              <a:t>从手动文档 → 三层记忆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58A6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949E"/>
                </a:solidFill>
              </a:defRPr>
            </a:pPr>
            <a:r>
              <a:t>提问与解答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第一性原理：LLM 的本质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0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8B949E"/>
                </a:solidFill>
              </a:rPr>
              <a:t>理解 LLM 如何“思考”，才能理解为什么短对话更好用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8B949E"/>
                </a:solidFill>
              </a:rPr>
              <a:t>• 自回归生成：每次只预测一个 token，边说边想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8B949E"/>
                </a:solidFill>
              </a:rPr>
              <a:t>• 没有独立于输出的“思考”过程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8B949E"/>
                </a:solidFill>
              </a:rPr>
              <a:t>• 上下文就是全部记忆，窗口外的内容不存在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8B949E"/>
                </a:solidFill>
              </a:rPr>
              <a:t>• 生成具有概率性，同样输入可能产生不同输出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0000"/>
            <a:ext cx="8229600" cy="12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58A6FF"/>
                </a:solidFill>
              </a:rPr>
              <a:t>⚠️ 关键启示：AI 不是先想好再说，它边说边想
所以给它更多“思考空间”（链式思考）会提升效果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Attention 机制与上下文约束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00000"/>
            <a:ext cx="2600000" cy="21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2390000"/>
            <a:ext cx="22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8A6FF"/>
                </a:solidFill>
              </a:rPr>
              <a:t>Attention = 动态聚光灯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00" y="2800000"/>
            <a:ext cx="22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模型生成每个 token 时，扫视整个上下文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对不同位置分配不同的注意力权重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注意力是稀疏的：关键信息集中在少数位置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3257200" y="2300000"/>
            <a:ext cx="2600000" cy="21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7200" y="2390000"/>
            <a:ext cx="22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5149"/>
                </a:solidFill>
              </a:rPr>
              <a:t>上下文长度物理上限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7200" y="2800000"/>
            <a:ext cx="22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主流模型 128K ~ 200K tokens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Attention 计算复杂度 O(n²)，内存同样平方级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超过硬性边界无法处理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7200" y="2300000"/>
            <a:ext cx="2600000" cy="21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7200" y="2390000"/>
            <a:ext cx="224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29922"/>
                </a:solidFill>
              </a:rPr>
              <a:t>有效上下文 &lt;&lt; 标称上下文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7200" y="2800000"/>
            <a:ext cx="224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200K 窗口，实际有效利用率约 10-15%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中间 40-60% 存在「Dumb Zone」性能退化</a:t>
            </a:r>
          </a:p>
          <a:p>
            <a:pPr>
              <a:spcBef>
                <a:spcPts val="1000"/>
              </a:spcBef>
            </a:pPr>
            <a:r>
              <a:rPr sz="1400">
                <a:solidFill>
                  <a:srgbClr val="8B949E"/>
                </a:solidFill>
              </a:rPr>
              <a:t>• 关键信息被淹没后，模型像「喝醉」一样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000"/>
            <a:ext cx="8229600" cy="8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B950"/>
                </a:solidFill>
              </a:rPr>
              <a:t>结论：不要追求更大的上下文窗口，而是管理好你已有的 200K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最重要的实践：短对话 &gt; 长对话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58A6FF"/>
                </a:solidFill>
              </a:rPr>
              <a:t>为什么短对话更好？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长对话 = AI 喝醉：开始犯错、遗忘、偏离目标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每轮发送都要重新发送整个上下文 → 越长越贵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短对话从干净状态开始，表现始终最佳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拆分对话 = 拆分任务，本质是软件工程最佳实践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3FB950"/>
                </a:solidFill>
              </a:rPr>
              <a:t>实战阈值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对话超过 80K-100K token 时，考虑开始新对话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完成一个独立子任务后，开始新对话处理下一个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8B949E"/>
                </a:solidFill>
              </a:rPr>
              <a:t>  “开始新对话”是正常工作流，不是“失败重试”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00000"/>
            <a:ext cx="8229600" cy="8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3FB950"/>
                </a:solidFill>
              </a:rPr>
              <a:t>200K 足够了！关键不在于窗口多大，而在你如何使用它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复利工程：让系统自我改进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8A6FF"/>
                </a:solidFill>
              </a:rPr>
              <a:t>强化学习：从「能说」到「能做」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尝试 → 反馈 → 调整，模型学会在什么情况下调用什么工具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给 Agent 清晰的成功标准 = 给它明确的“奖励信号”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允许试错：多次尝试往往比期待一次成功更实际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FB950"/>
                </a:solidFill>
              </a:rPr>
              <a:t>复利工程核心：你在解决问题，还是在教育系统？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每次 bug 修复 → 添加 lint 规则 / 记录陷阱 / 编写防回归测试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每次代码审查 → 提取可复用教训，更新 AGENTS.md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每次成功流程 → 记录为工作模板，下次直接复用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三个月后，Agent 自动应用你从未明确告诉它的模式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00000"/>
            <a:ext cx="8229600" cy="7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D29922"/>
                </a:solidFill>
              </a:rPr>
              <a:t>“你不只是在解决今天的问题，而是在教育系统”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对人难的事，对 AI 也难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0000"/>
            <a:ext cx="8229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8A6FF"/>
                </a:solidFill>
              </a:rPr>
              <a:t>AI 和人类开发者面临相同的挑战 → 投资开发者体验 = 双倍回报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FB950"/>
                </a:solidFill>
              </a:rPr>
              <a:t>[DOC] 更好的文档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文档缺失 → AI 反复搜索猜测，消耗上下文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ADR 解释“为什么这样设计”，避免 AI 违背意图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已知陷阱直接告诉 AI 什么不该做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8A6FF"/>
                </a:solidFill>
              </a:rPr>
              <a:t>[ARCH] 更清晰的代码结构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混乱模块不仅困扰人，也困扰 AI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清晰命名、单一职责、显式依赖 = 人工双赢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8B949E"/>
                </a:solidFill>
              </a:rPr>
              <a:t>  快速反馈循环：秒级测试 &gt; 10 分钟测试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00000"/>
            <a:ext cx="8229600" cy="10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D29922"/>
                </a:solidFill>
              </a:rPr>
              <a:t>反过来未必成立：对人简单的事，对 AI 不一定简单（如理解 UI 布局）
有时需要专门为 AI 设计工具接口和错误信息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6FC"/>
                </a:solidFill>
              </a:rPr>
              <a:t>刻意练习：像学乐器一样学习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8B949E"/>
                </a:solidFill>
              </a:rPr>
              <a:t>• 创造干净的实验环境：个人项目，没有历史包袱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8B949E"/>
                </a:solidFill>
              </a:rPr>
              <a:t>• 从失败中提取教训：问自己 prompt 是否清晰？上下文是否足够？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8B949E"/>
                </a:solidFill>
              </a:rPr>
              <a:t>• 观察和模仿高手：关注公开分享 AI 工作流的开发者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8B949E"/>
                </a:solidFill>
              </a:rPr>
              <a:t>• 建立肌肉记忆：什么时候开新对话？哪种工具组合最有效？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8B949E"/>
                </a:solidFill>
              </a:rPr>
              <a:t>• 投入时间：每天练习 30 分钟 &gt; 每周练习 1 次几小时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00000"/>
            <a:ext cx="8229600" cy="900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58A6FF"/>
                </a:solidFill>
              </a:rPr>
              <a:t>AI 就像一件乐器：每个人都知道它是什么，但只有刻意练习的人才能弹好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1887</Words>
  <Application>WPS 演示</Application>
  <PresentationFormat>On-screen Show (4:3)</PresentationFormat>
  <Paragraphs>220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jiangwei</cp:lastModifiedBy>
  <cp:revision>2</cp:revision>
  <dcterms:created xsi:type="dcterms:W3CDTF">2026-04-09T03:25:29Z</dcterms:created>
  <dcterms:modified xsi:type="dcterms:W3CDTF">2026-04-09T03:25:29Z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DAF7E2F761AEF7FE291CD7691A82FD31_42</vt:lpwstr>
  </property>
</Properties>
</file>